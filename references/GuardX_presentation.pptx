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640" r:id="rId2"/>
    <p:sldId id="3694" r:id="rId3"/>
    <p:sldId id="3697" r:id="rId4"/>
    <p:sldId id="3707" r:id="rId5"/>
    <p:sldId id="3708" r:id="rId6"/>
    <p:sldId id="3701" r:id="rId7"/>
    <p:sldId id="3700" r:id="rId8"/>
    <p:sldId id="3702" r:id="rId9"/>
    <p:sldId id="3709" r:id="rId10"/>
    <p:sldId id="3706" r:id="rId11"/>
    <p:sldId id="3710" r:id="rId12"/>
    <p:sldId id="3711" r:id="rId13"/>
    <p:sldId id="364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keshi Parnami" initials="SP" lastIdx="1" clrIdx="0">
    <p:extLst>
      <p:ext uri="{19B8F6BF-5375-455C-9EA6-DF929625EA0E}">
        <p15:presenceInfo xmlns:p15="http://schemas.microsoft.com/office/powerpoint/2012/main" userId="S::sparnami@upes.ac.in::61686955-4e93-4ddb-a545-ba82f91d1f9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36FF"/>
    <a:srgbClr val="4AAEFC"/>
    <a:srgbClr val="434ACF"/>
    <a:srgbClr val="BF2CFE"/>
    <a:srgbClr val="46B0FA"/>
    <a:srgbClr val="27D4F8"/>
    <a:srgbClr val="D9FF00"/>
    <a:srgbClr val="E0E600"/>
    <a:srgbClr val="0B2F3E"/>
    <a:srgbClr val="B1B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1E993B-CED6-DAAC-5CA0-DD6361856D4F}" v="1004" dt="2026-08-20T09:59:16.859"/>
    <p1510:client id="{AE1C618E-A6A5-0C1C-9B19-7814CF5FE7BE}" v="236" dt="2026-08-20T12:49:35.4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13" autoAdjust="0"/>
    <p:restoredTop sz="96327"/>
  </p:normalViewPr>
  <p:slideViewPr>
    <p:cSldViewPr snapToGrid="0" snapToObjects="1">
      <p:cViewPr varScale="1">
        <p:scale>
          <a:sx n="82" d="100"/>
          <a:sy n="82" d="100"/>
        </p:scale>
        <p:origin x="56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9D15D-1C13-CC45-BE09-4D54E9A973B4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3A8CF-95A7-924D-878B-183116A25D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96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73FB-2D72-9945-BF45-5347690BB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3C615-989D-9D44-8501-FCE01FCED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E5F24-53F9-054C-A9F8-3DCFACAB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3D9895-3AFC-9E49-BB6B-D5AF81433D95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E7FB8-C70E-584A-A086-8852BD63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5C156-1A78-7A4C-AB86-BCA1B1785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F45BD75-B1E6-DE4E-8CD3-58B4BE092B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71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24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3F520-AAB7-4D20-958E-A456239933B0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316BF-8A16-4F24-9F8F-9D40354D5A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340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C0DC26-5D78-6140-BF89-41378C4365C1}"/>
              </a:ext>
            </a:extLst>
          </p:cNvPr>
          <p:cNvSpPr/>
          <p:nvPr userDrawn="1"/>
        </p:nvSpPr>
        <p:spPr>
          <a:xfrm>
            <a:off x="98853" y="86497"/>
            <a:ext cx="11998411" cy="6685005"/>
          </a:xfrm>
          <a:prstGeom prst="rect">
            <a:avLst/>
          </a:prstGeom>
          <a:noFill/>
          <a:ln w="28575">
            <a:solidFill>
              <a:srgbClr val="46B0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5EF86C0-A360-484B-B595-7CC69137B5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2813" r="7454"/>
          <a:stretch/>
        </p:blipFill>
        <p:spPr>
          <a:xfrm>
            <a:off x="10718090" y="127821"/>
            <a:ext cx="1336257" cy="54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464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8895C2-828B-934B-8B58-BBC23AD3665A}"/>
              </a:ext>
            </a:extLst>
          </p:cNvPr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text, sign, outdoor&#10;&#10;Description automatically generated">
            <a:extLst>
              <a:ext uri="{FF2B5EF4-FFF2-40B4-BE49-F238E27FC236}">
                <a16:creationId xmlns:a16="http://schemas.microsoft.com/office/drawing/2014/main" id="{35C12C04-5CEF-8448-B70C-56FE6AD03C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29" y="126108"/>
            <a:ext cx="876170" cy="1491678"/>
          </a:xfrm>
          <a:prstGeom prst="rect">
            <a:avLst/>
          </a:prstGeom>
        </p:spPr>
      </p:pic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2F3CE5-A64B-4B6C-9275-01E87181F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017" y="143688"/>
            <a:ext cx="4564228" cy="147409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756262" y="1532487"/>
            <a:ext cx="670124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5400"/>
              <a:t>Major Project</a:t>
            </a: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80999" y="2560320"/>
            <a:ext cx="994855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3200" dirty="0" err="1"/>
              <a:t>GuardX</a:t>
            </a:r>
            <a:r>
              <a:rPr lang="en-IN" sz="3200" dirty="0">
                <a:ea typeface="+mn-lt"/>
                <a:cs typeface="+mn-lt"/>
              </a:rPr>
              <a:t>: Multi-Agent AI Safety &amp; Guardrail Framework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29" y="5003074"/>
            <a:ext cx="3174275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dirty="0"/>
              <a:t>Presented by:</a:t>
            </a:r>
          </a:p>
          <a:p>
            <a:r>
              <a:rPr lang="en-IN"/>
              <a:t>500121774 – Ishita Jindal</a:t>
            </a:r>
            <a:endParaRPr lang="en-IN" dirty="0">
              <a:ea typeface="Calibri"/>
              <a:cs typeface="Calibri"/>
            </a:endParaRPr>
          </a:p>
          <a:p>
            <a:r>
              <a:rPr lang="en-IN"/>
              <a:t>500121853 – Deepti Gupta</a:t>
            </a:r>
            <a:endParaRPr lang="en-IN">
              <a:ea typeface="Calibri"/>
              <a:cs typeface="Calibri"/>
            </a:endParaRPr>
          </a:p>
          <a:p>
            <a:r>
              <a:rPr lang="en-IN"/>
              <a:t>500121484 – Neeraj Kumar</a:t>
            </a:r>
            <a:endParaRPr lang="en-IN">
              <a:ea typeface="Calibri"/>
              <a:cs typeface="Calibri"/>
            </a:endParaRPr>
          </a:p>
          <a:p>
            <a:r>
              <a:rPr lang="en-IN"/>
              <a:t>500121201 – Swastik B. Ojha</a:t>
            </a:r>
            <a:endParaRPr lang="en-IN">
              <a:ea typeface="Calibri"/>
              <a:cs typeface="Calibri"/>
            </a:endParaRPr>
          </a:p>
          <a:p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7703211" y="5003074"/>
            <a:ext cx="365652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/>
              <a:t>Mentored By - </a:t>
            </a:r>
            <a:r>
              <a:rPr lang="en-IN">
                <a:ea typeface="Calibri"/>
                <a:cs typeface="Calibri"/>
              </a:rPr>
              <a:t>Prof. Bhavana Kaushik</a:t>
            </a:r>
          </a:p>
          <a:p>
            <a:endParaRPr lang="en-IN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7799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1071154" y="1247350"/>
            <a:ext cx="465037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>
                <a:solidFill>
                  <a:srgbClr val="282828"/>
                </a:solidFill>
                <a:latin typeface="Arial"/>
              </a:defRPr>
            </a:pPr>
            <a:r>
              <a:t>Introduction</a:t>
            </a:r>
            <a:br/>
            <a:br/>
            <a:r>
              <a:t>Literature Review</a:t>
            </a:r>
            <a:br/>
            <a:br/>
            <a:r>
              <a:t>Objectives</a:t>
            </a:r>
            <a:br/>
            <a:br/>
            <a:r>
              <a:t>Proposed Architecture</a:t>
            </a:r>
            <a:br/>
            <a:br/>
            <a:r>
              <a:t>Methodology &amp; Workflow</a:t>
            </a:r>
            <a:br/>
            <a:br/>
            <a:r>
              <a:t>Evaluation &amp; Timeline</a:t>
            </a:r>
            <a:br/>
            <a:br/>
            <a:r>
              <a:t>Conclusion &amp; Future Scope</a:t>
            </a:r>
            <a:br/>
            <a:br/>
            <a: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879729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22500"/>
            <a:ext cx="1076625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>
                <a:solidFill>
                  <a:srgbClr val="46B0FA"/>
                </a:solidFill>
                <a:latin typeface="Arial"/>
                <a:cs typeface="Arial"/>
              </a:rPr>
              <a:t>Introduction </a:t>
            </a:r>
            <a:endParaRPr lang="en-US" sz="28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632624" y="806375"/>
            <a:ext cx="11237111" cy="5078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"/>
                <a:ea typeface="+mn-lt"/>
                <a:cs typeface="Arial"/>
              </a:rPr>
              <a:t>Problem Statement</a:t>
            </a:r>
            <a:r>
              <a:rPr lang="en-US" sz="2400" dirty="0">
                <a:latin typeface="Arial"/>
                <a:ea typeface="+mn-lt"/>
                <a:cs typeface="Arial"/>
              </a:rPr>
              <a:t> 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000">
                <a:ea typeface="+mn-lt"/>
                <a:cs typeface="+mn-lt"/>
              </a:rPr>
              <a:t>Large Language Models (LLMs) can produce </a:t>
            </a:r>
            <a:r>
              <a:rPr lang="en-US" sz="2000" b="1">
                <a:ea typeface="+mn-lt"/>
                <a:cs typeface="+mn-lt"/>
              </a:rPr>
              <a:t>unsafe, biased, misleading, privacy-sensitive, or policy-violating responses</a:t>
            </a:r>
            <a:r>
              <a:rPr lang="en-US" sz="2000">
                <a:ea typeface="+mn-lt"/>
                <a:cs typeface="+mn-lt"/>
              </a:rPr>
              <a:t> and may perform unintended actions when used in AI agents. Traditional single-layer guardrails may fail to detect complex or evolving risks. Therefore, there is a need for a </a:t>
            </a:r>
            <a:r>
              <a:rPr lang="en-US" sz="2000" b="1">
                <a:ea typeface="+mn-lt"/>
                <a:cs typeface="+mn-lt"/>
              </a:rPr>
              <a:t>multi-agent guardrail system</a:t>
            </a:r>
            <a:r>
              <a:rPr lang="en-US" sz="2000">
                <a:ea typeface="+mn-lt"/>
                <a:cs typeface="+mn-lt"/>
              </a:rPr>
              <a:t> where specialized AI agents independently evaluate security, privacy, toxicity, policy compliance, and action safety, followed by an </a:t>
            </a:r>
            <a:r>
              <a:rPr lang="en-US" sz="2000" b="1">
                <a:ea typeface="+mn-lt"/>
                <a:cs typeface="+mn-lt"/>
              </a:rPr>
              <a:t>arbiter agent</a:t>
            </a:r>
            <a:r>
              <a:rPr lang="en-US" sz="2000">
                <a:ea typeface="+mn-lt"/>
                <a:cs typeface="+mn-lt"/>
              </a:rPr>
              <a:t> that makes a final decision to </a:t>
            </a:r>
            <a:r>
              <a:rPr lang="en-US" sz="2000" b="1">
                <a:ea typeface="+mn-lt"/>
                <a:cs typeface="+mn-lt"/>
              </a:rPr>
              <a:t>allow, modify, block, or escalate</a:t>
            </a:r>
            <a:r>
              <a:rPr lang="en-US" sz="2000">
                <a:ea typeface="+mn-lt"/>
                <a:cs typeface="+mn-lt"/>
              </a:rPr>
              <a:t> the response/action.</a:t>
            </a:r>
            <a:endParaRPr lang="en-US">
              <a:ea typeface="+mn-lt"/>
              <a:cs typeface="+mn-lt"/>
            </a:endParaRPr>
          </a:p>
          <a:p>
            <a:endParaRPr lang="en-US"/>
          </a:p>
          <a:p>
            <a:pPr marL="285750" indent="-285750" algn="ctr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r>
              <a:rPr lang="en-US" sz="2400">
                <a:solidFill>
                  <a:srgbClr val="FF0000"/>
                </a:solidFill>
                <a:latin typeface="Arial"/>
                <a:ea typeface="Calibri"/>
                <a:cs typeface="Arial"/>
              </a:rPr>
              <a:t>Motivation</a:t>
            </a:r>
            <a:endParaRPr lang="en-US" sz="2400">
              <a:solidFill>
                <a:srgbClr val="000000"/>
              </a:solidFill>
              <a:latin typeface="Arial"/>
              <a:ea typeface="Calibri"/>
              <a:cs typeface="Calibri"/>
            </a:endParaRPr>
          </a:p>
          <a:p>
            <a:r>
              <a:rPr lang="en-US" sz="2000" dirty="0">
                <a:ea typeface="+mn-lt"/>
                <a:cs typeface="+mn-lt"/>
              </a:rPr>
              <a:t>The increasing use of </a:t>
            </a:r>
            <a:r>
              <a:rPr lang="en-US" sz="2000" b="1" dirty="0">
                <a:ea typeface="+mn-lt"/>
                <a:cs typeface="+mn-lt"/>
              </a:rPr>
              <a:t>LLMs and AI agents</a:t>
            </a:r>
            <a:r>
              <a:rPr lang="en-US" sz="2000" dirty="0">
                <a:ea typeface="+mn-lt"/>
                <a:cs typeface="+mn-lt"/>
              </a:rPr>
              <a:t> creates risks such as harmful responses, prompt injection, privacy leakage, hallucinations, and unsafe actions. Traditional single-layer guardrails may not detect all these threats. </a:t>
            </a:r>
            <a:r>
              <a:rPr lang="en-US" sz="2000" b="1" dirty="0" err="1">
                <a:ea typeface="+mn-lt"/>
                <a:cs typeface="+mn-lt"/>
              </a:rPr>
              <a:t>GuardX</a:t>
            </a:r>
            <a:r>
              <a:rPr lang="en-US" sz="2000" dirty="0">
                <a:ea typeface="+mn-lt"/>
                <a:cs typeface="+mn-lt"/>
              </a:rPr>
              <a:t> is motivated by the need for a multi-agent safety layer that independently evaluates risks and uses an </a:t>
            </a:r>
            <a:r>
              <a:rPr lang="en-US" sz="2000" b="1" dirty="0">
                <a:ea typeface="+mn-lt"/>
                <a:cs typeface="+mn-lt"/>
              </a:rPr>
              <a:t>Arbiter Agent</a:t>
            </a:r>
            <a:r>
              <a:rPr lang="en-US" sz="2000" dirty="0">
                <a:ea typeface="+mn-lt"/>
                <a:cs typeface="+mn-lt"/>
              </a:rPr>
              <a:t> to make reliable decisions before allowing, modifying, or blocking AI outputs and actions.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20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0493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ADAB1-FCAA-A511-1287-B8A33B024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C1383F-BAD5-6F0C-2131-8765E69C016A}"/>
              </a:ext>
            </a:extLst>
          </p:cNvPr>
          <p:cNvSpPr txBox="1"/>
          <p:nvPr/>
        </p:nvSpPr>
        <p:spPr>
          <a:xfrm>
            <a:off x="325927" y="222500"/>
            <a:ext cx="7530363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>
                <a:solidFill>
                  <a:srgbClr val="46B0FA"/>
                </a:solidFill>
                <a:latin typeface="Arial"/>
                <a:cs typeface="Arial"/>
              </a:rPr>
              <a:t>Introduction </a:t>
            </a:r>
            <a:endParaRPr lang="en-US" sz="2800">
              <a:solidFill>
                <a:srgbClr val="FF0000"/>
              </a:solidFill>
              <a:latin typeface="Arial"/>
              <a:cs typeface="Arial"/>
            </a:endParaRPr>
          </a:p>
          <a:p>
            <a:endParaRPr lang="en-US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F74829-911E-676A-2720-6F3273A67BD7}"/>
              </a:ext>
            </a:extLst>
          </p:cNvPr>
          <p:cNvSpPr txBox="1"/>
          <p:nvPr/>
        </p:nvSpPr>
        <p:spPr>
          <a:xfrm>
            <a:off x="695253" y="869005"/>
            <a:ext cx="10934399" cy="54168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"/>
                <a:cs typeface="Arial"/>
              </a:rPr>
              <a:t>Dataset and input format</a:t>
            </a:r>
            <a:endParaRPr lang="en-US" sz="240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en-US" sz="2000" b="1" dirty="0" err="1">
                <a:ea typeface="+mn-lt"/>
                <a:cs typeface="+mn-lt"/>
              </a:rPr>
              <a:t>AdvBench</a:t>
            </a:r>
            <a:r>
              <a:rPr lang="en-US" sz="2000" b="1" dirty="0">
                <a:ea typeface="+mn-lt"/>
                <a:cs typeface="+mn-lt"/>
              </a:rPr>
              <a:t> (Adversarial Behaviors Benchmark)</a:t>
            </a:r>
            <a:r>
              <a:rPr lang="en-US" sz="2000" dirty="0">
                <a:ea typeface="+mn-lt"/>
                <a:cs typeface="+mn-lt"/>
              </a:rPr>
              <a:t> contains </a:t>
            </a:r>
            <a:r>
              <a:rPr lang="en-US" sz="2000" b="1" dirty="0">
                <a:ea typeface="+mn-lt"/>
                <a:cs typeface="+mn-lt"/>
              </a:rPr>
              <a:t>harmful and adversarial prompts</a:t>
            </a:r>
            <a:r>
              <a:rPr lang="en-US" sz="2000" dirty="0">
                <a:ea typeface="+mn-lt"/>
                <a:cs typeface="+mn-lt"/>
              </a:rPr>
              <a:t> for testing LLM safety. 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Used to evaluate how effectively </a:t>
            </a:r>
            <a:r>
              <a:rPr lang="en-US" sz="2000" dirty="0" err="1">
                <a:ea typeface="+mn-lt"/>
                <a:cs typeface="+mn-lt"/>
              </a:rPr>
              <a:t>GuardX</a:t>
            </a:r>
            <a:r>
              <a:rPr lang="en-US" sz="2000" dirty="0">
                <a:ea typeface="+mn-lt"/>
                <a:cs typeface="+mn-lt"/>
              </a:rPr>
              <a:t> detects </a:t>
            </a:r>
            <a:r>
              <a:rPr lang="en-US" sz="2000" b="1" dirty="0">
                <a:ea typeface="+mn-lt"/>
                <a:cs typeface="+mn-lt"/>
              </a:rPr>
              <a:t>unsafe requests and jailbreak attempts</a:t>
            </a:r>
            <a:r>
              <a:rPr lang="en-US" sz="2000" dirty="0">
                <a:ea typeface="+mn-lt"/>
                <a:cs typeface="+mn-lt"/>
              </a:rPr>
              <a:t>. 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Prompts are analyzed by multiple </a:t>
            </a:r>
            <a:r>
              <a:rPr lang="en-US" sz="2000" b="1">
                <a:ea typeface="+mn-lt"/>
                <a:cs typeface="+mn-lt"/>
              </a:rPr>
              <a:t>Guardrail Agents</a:t>
            </a:r>
            <a:r>
              <a:rPr lang="en-US" sz="2000">
                <a:ea typeface="+mn-lt"/>
                <a:cs typeface="+mn-lt"/>
              </a:rPr>
              <a:t> and the </a:t>
            </a:r>
            <a:r>
              <a:rPr lang="en-US" sz="2000" b="1">
                <a:ea typeface="+mn-lt"/>
                <a:cs typeface="+mn-lt"/>
              </a:rPr>
              <a:t>Arbiter Agent</a:t>
            </a:r>
            <a:r>
              <a:rPr lang="en-US" sz="2000">
                <a:ea typeface="+mn-lt"/>
                <a:cs typeface="+mn-lt"/>
              </a:rPr>
              <a:t>. 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Output:</a:t>
            </a:r>
            <a:r>
              <a:rPr lang="en-US" sz="2000">
                <a:ea typeface="+mn-lt"/>
                <a:cs typeface="+mn-lt"/>
              </a:rPr>
              <a:t> Risk Category, Risk Score, and </a:t>
            </a:r>
            <a:r>
              <a:rPr lang="en-US" sz="2000" b="1">
                <a:ea typeface="+mn-lt"/>
                <a:cs typeface="+mn-lt"/>
              </a:rPr>
              <a:t>ALLOW / BLOCK / MODIFY</a:t>
            </a:r>
            <a:r>
              <a:rPr lang="en-US" sz="2000">
                <a:ea typeface="+mn-lt"/>
                <a:cs typeface="+mn-lt"/>
              </a:rPr>
              <a:t> decision. 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Metrics:</a:t>
            </a:r>
            <a:r>
              <a:rPr lang="en-US" sz="2000">
                <a:ea typeface="+mn-lt"/>
                <a:cs typeface="+mn-lt"/>
              </a:rPr>
              <a:t> Detection Accuracy, False Positive Rate, and Attack Success Rate.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2000" dirty="0">
              <a:ea typeface="Calibri"/>
              <a:cs typeface="Calibri"/>
            </a:endParaRPr>
          </a:p>
          <a:p>
            <a:r>
              <a:rPr lang="en-US" sz="2400">
                <a:solidFill>
                  <a:srgbClr val="FF0000"/>
                </a:solidFill>
                <a:latin typeface="Arial"/>
                <a:cs typeface="Arial"/>
              </a:rPr>
              <a:t>Area of application</a:t>
            </a: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Healthcare AI</a:t>
            </a:r>
            <a:r>
              <a:rPr lang="en-US" sz="2000">
                <a:ea typeface="+mn-lt"/>
                <a:cs typeface="+mn-lt"/>
              </a:rPr>
              <a:t> – Prevents unsafe medical advice and sensitive data leakage.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Banking &amp; Finance</a:t>
            </a:r>
            <a:r>
              <a:rPr lang="en-US" sz="2000">
                <a:ea typeface="+mn-lt"/>
                <a:cs typeface="+mn-lt"/>
              </a:rPr>
              <a:t> – Protects financial information and detects risky transactions.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Education</a:t>
            </a:r>
            <a:r>
              <a:rPr lang="en-US" sz="2000">
                <a:ea typeface="+mn-lt"/>
                <a:cs typeface="+mn-lt"/>
              </a:rPr>
              <a:t> – Ensures safe and appropriate AI-generated content.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Enterprise AI</a:t>
            </a:r>
            <a:r>
              <a:rPr lang="en-US" sz="2000">
                <a:ea typeface="+mn-lt"/>
                <a:cs typeface="+mn-lt"/>
              </a:rPr>
              <a:t> – Controls AI agents accessing confidential company data.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Customer Support</a:t>
            </a:r>
            <a:r>
              <a:rPr lang="en-US" sz="2000">
                <a:ea typeface="+mn-lt"/>
                <a:cs typeface="+mn-lt"/>
              </a:rPr>
              <a:t> – Prevents harmful, biased, or policy-violating responses.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Autonomous AI Agents</a:t>
            </a:r>
            <a:r>
              <a:rPr lang="en-US" sz="2000">
                <a:ea typeface="+mn-lt"/>
                <a:cs typeface="+mn-lt"/>
              </a:rPr>
              <a:t> – Validates tool calls and actions before execution.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Cybersecurity</a:t>
            </a:r>
            <a:r>
              <a:rPr lang="en-US" sz="2000">
                <a:ea typeface="+mn-lt"/>
                <a:cs typeface="+mn-lt"/>
              </a:rPr>
              <a:t> – Detects prompt injection, jailbreaks, and malicious inputs.</a:t>
            </a:r>
            <a:endParaRPr lang="en-US">
              <a:ea typeface="Calibri"/>
              <a:cs typeface="Calibri"/>
            </a:endParaRPr>
          </a:p>
          <a:p>
            <a:endParaRPr lang="en-IN" dirty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328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34927-8242-F1C7-4BE8-2BC9A9527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0CA19C-DF9A-CE78-0728-DAD15677FF46}"/>
              </a:ext>
            </a:extLst>
          </p:cNvPr>
          <p:cNvSpPr txBox="1"/>
          <p:nvPr/>
        </p:nvSpPr>
        <p:spPr>
          <a:xfrm>
            <a:off x="325927" y="222500"/>
            <a:ext cx="7530363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>
                <a:solidFill>
                  <a:srgbClr val="46B0FA"/>
                </a:solidFill>
                <a:latin typeface="Arial"/>
                <a:cs typeface="Arial"/>
              </a:rPr>
              <a:t>Introduction - </a:t>
            </a:r>
            <a:endParaRPr lang="en-US" sz="2800">
              <a:solidFill>
                <a:srgbClr val="FF0000"/>
              </a:solidFill>
              <a:latin typeface="Arial"/>
              <a:cs typeface="Arial"/>
            </a:endParaRPr>
          </a:p>
          <a:p>
            <a:endParaRPr lang="en-US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F8094A-BA89-665C-2057-B14597E6A057}"/>
              </a:ext>
            </a:extLst>
          </p:cNvPr>
          <p:cNvSpPr txBox="1"/>
          <p:nvPr/>
        </p:nvSpPr>
        <p:spPr>
          <a:xfrm>
            <a:off x="793315" y="767219"/>
            <a:ext cx="10845450" cy="60016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2400" b="0" i="0" u="none" strike="noStrike" baseline="0">
                <a:solidFill>
                  <a:srgbClr val="FF0000"/>
                </a:solidFill>
                <a:latin typeface="Arial"/>
                <a:ea typeface="Segoe UI"/>
                <a:cs typeface="Segoe UI"/>
              </a:rPr>
              <a:t>Technical Concepts (Algorithms) used</a:t>
            </a:r>
            <a:endParaRPr lang="en-US" sz="2400" b="0" i="0">
              <a:solidFill>
                <a:srgbClr val="000000"/>
              </a:solidFill>
              <a:latin typeface="Arial"/>
              <a:ea typeface="Segoe UI"/>
              <a:cs typeface="Segoe UI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b="1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Multi-Agent Architecture</a:t>
            </a:r>
            <a:r>
              <a:rPr lang="en-US" sz="200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: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Multiple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specialized 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agents independently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analyze the LLM response 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for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security, privacy, toxicity, policy violations, and hallucinations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b="1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Risk Scoring</a:t>
            </a:r>
            <a:r>
              <a:rPr lang="en-US" sz="2000" b="1">
                <a:solidFill>
                  <a:srgbClr val="000000"/>
                </a:solidFill>
                <a:ea typeface="+mn-lt"/>
                <a:cs typeface="+mn-lt"/>
              </a:rPr>
              <a:t> Algorithm</a:t>
            </a:r>
            <a:r>
              <a:rPr lang="en-US" sz="200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: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Assigns a risk score to each response/action based on 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the severity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and number 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of detected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violations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b="1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LLM-as-a-Judge</a:t>
            </a:r>
            <a:r>
              <a:rPr lang="en-US" sz="200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: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A separate 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evaluator model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reviews the generated response 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against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predefined 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safety policies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and provides a safety decision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b="1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Rule-Based Guardrails</a:t>
            </a:r>
            <a:r>
              <a:rPr lang="en-US" sz="200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: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Uses 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predefined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rules and thresholds to immediately detect and block known 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unsafe patterns.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b="1">
                <a:solidFill>
                  <a:srgbClr val="000000"/>
                </a:solidFill>
                <a:ea typeface="+mn-lt"/>
                <a:cs typeface="+mn-lt"/>
              </a:rPr>
              <a:t>Ensemble Decision Making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: Combines the decisions of multiple guardrail agents to reduce dependence on a single evaluator.</a:t>
            </a:r>
            <a:endParaRPr lang="en-US">
              <a:ea typeface="Calibri"/>
              <a:cs typeface="Calibri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b="1">
                <a:solidFill>
                  <a:srgbClr val="000000"/>
                </a:solidFill>
                <a:ea typeface="+mn-lt"/>
                <a:cs typeface="+mn-lt"/>
              </a:rPr>
              <a:t>Arbiter/</a:t>
            </a:r>
            <a:r>
              <a:rPr lang="en-US" sz="2000" b="1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Consensus</a:t>
            </a:r>
            <a:r>
              <a:rPr lang="en-US" sz="2000" b="1">
                <a:solidFill>
                  <a:srgbClr val="000000"/>
                </a:solidFill>
                <a:ea typeface="+mn-lt"/>
                <a:cs typeface="+mn-lt"/>
              </a:rPr>
              <a:t> Algorithm</a:t>
            </a:r>
            <a:r>
              <a:rPr lang="en-US" sz="200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: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Aggregates 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agent decisions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and determines the final action — ALLOW</a:t>
            </a:r>
            <a:r>
              <a:rPr lang="en-US" sz="200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MODIFY</a:t>
            </a:r>
            <a:r>
              <a:rPr lang="en-US" sz="200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BLOCK</a:t>
            </a:r>
            <a:r>
              <a:rPr lang="en-US" sz="200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, or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HUMAN REVIEW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b="1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Prompt Injection Detection</a:t>
            </a:r>
            <a:r>
              <a:rPr lang="en-US" sz="200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: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Identifies malicious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or conflicting 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instructions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designed to manipulate the LLM.</a:t>
            </a:r>
            <a:endParaRPr lang="en-US">
              <a:ea typeface="Calibri"/>
              <a:cs typeface="Calibri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b="1">
                <a:solidFill>
                  <a:srgbClr val="000000"/>
                </a:solidFill>
                <a:ea typeface="+mn-lt"/>
                <a:cs typeface="+mn-lt"/>
              </a:rPr>
              <a:t>PII Detection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: Uses pattern matching and NLP-based entity recognition to detect sensitive information such as emails, phone numbers, 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and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credentials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b="1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Audit &amp; Feedback</a:t>
            </a:r>
            <a:r>
              <a:rPr lang="en-US" sz="2000" b="1">
                <a:solidFill>
                  <a:srgbClr val="000000"/>
                </a:solidFill>
                <a:ea typeface="+mn-lt"/>
                <a:cs typeface="+mn-lt"/>
              </a:rPr>
              <a:t> Loop</a:t>
            </a:r>
            <a:r>
              <a:rPr lang="en-US" sz="200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: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Stores 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decisions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, detected risks, and outcomes to evaluate guardrail performance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 and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improve the 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system.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4789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330031" y="834826"/>
            <a:ext cx="12009549" cy="560153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Arial"/>
                <a:cs typeface="Arial"/>
              </a:rPr>
              <a:t>Main Objective</a:t>
            </a:r>
          </a:p>
          <a:p>
            <a:r>
              <a:rPr lang="en-US" sz="2000" dirty="0">
                <a:ea typeface="+mn-lt"/>
                <a:cs typeface="+mn-lt"/>
              </a:rPr>
              <a:t>The main objective of </a:t>
            </a:r>
            <a:r>
              <a:rPr lang="en-US" sz="2000" b="1">
                <a:ea typeface="+mn-lt"/>
                <a:cs typeface="+mn-lt"/>
              </a:rPr>
              <a:t>GuardX</a:t>
            </a:r>
            <a:r>
              <a:rPr lang="en-US" sz="2000" dirty="0">
                <a:ea typeface="+mn-lt"/>
                <a:cs typeface="+mn-lt"/>
              </a:rPr>
              <a:t> is to develop a </a:t>
            </a:r>
            <a:r>
              <a:rPr lang="en-US" sz="2000" b="1" dirty="0">
                <a:ea typeface="+mn-lt"/>
                <a:cs typeface="+mn-lt"/>
              </a:rPr>
              <a:t>multi-agent AI guardrail framework</a:t>
            </a:r>
            <a:r>
              <a:rPr lang="en-US" sz="2000" dirty="0">
                <a:ea typeface="+mn-lt"/>
                <a:cs typeface="+mn-lt"/>
              </a:rPr>
              <a:t> that improves the safety, reliability, and trustworthiness of Large Language Model (LLM)-based systems by evaluating user inputs, model outputs, and proposed AI actions before they are executed or delivered.</a:t>
            </a:r>
            <a:endParaRPr lang="en-US" dirty="0"/>
          </a:p>
          <a:p>
            <a:r>
              <a:rPr lang="en-US" sz="2000">
                <a:ea typeface="+mn-lt"/>
                <a:cs typeface="+mn-lt"/>
              </a:rPr>
              <a:t>The system aims to: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Detect adversarial and harmful inputs</a:t>
            </a:r>
            <a:r>
              <a:rPr lang="en-US" sz="2000" dirty="0">
                <a:ea typeface="+mn-lt"/>
                <a:cs typeface="+mn-lt"/>
              </a:rPr>
              <a:t> using </a:t>
            </a:r>
            <a:r>
              <a:rPr lang="en-US" sz="2000" b="1" dirty="0" err="1">
                <a:ea typeface="+mn-lt"/>
                <a:cs typeface="+mn-lt"/>
              </a:rPr>
              <a:t>AdvBench</a:t>
            </a:r>
            <a:r>
              <a:rPr lang="en-US" sz="2000" dirty="0">
                <a:ea typeface="+mn-lt"/>
                <a:cs typeface="+mn-lt"/>
              </a:rPr>
              <a:t> as the primary evaluation dataset, including jailbreak and malicious prompts.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Use multiple specialized guardrail agents</a:t>
            </a:r>
            <a:r>
              <a:rPr lang="en-US" sz="2000">
                <a:ea typeface="+mn-lt"/>
                <a:cs typeface="+mn-lt"/>
              </a:rPr>
              <a:t> to independently evaluate different risks such as prompt injection, harmful content, privacy leakage, policy violations, and unsafe actions.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Assign a risk score and category</a:t>
            </a:r>
            <a:r>
              <a:rPr lang="en-US" sz="2000">
                <a:ea typeface="+mn-lt"/>
                <a:cs typeface="+mn-lt"/>
              </a:rPr>
              <a:t> to each detected threat based on its severity.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Use an Arbiter Agent</a:t>
            </a:r>
            <a:r>
              <a:rPr lang="en-US" sz="2000">
                <a:ea typeface="+mn-lt"/>
                <a:cs typeface="+mn-lt"/>
              </a:rPr>
              <a:t> to combine the decisions of individual guardrail agents and reach a reliable final decision.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Take appropriate safety actions</a:t>
            </a:r>
            <a:r>
              <a:rPr lang="en-US" sz="2000">
                <a:ea typeface="+mn-lt"/>
                <a:cs typeface="+mn-lt"/>
              </a:rPr>
              <a:t> such as </a:t>
            </a:r>
            <a:r>
              <a:rPr lang="en-US" sz="2000" b="1">
                <a:ea typeface="+mn-lt"/>
                <a:cs typeface="+mn-lt"/>
              </a:rPr>
              <a:t>ALLOW, MODIFY, BLOCK, or HUMAN REVIEW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>
                <a:ea typeface="+mn-lt"/>
                <a:cs typeface="+mn-lt"/>
              </a:rPr>
              <a:t>depending on the assessed risk.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Provide explainable decisions</a:t>
            </a:r>
            <a:r>
              <a:rPr lang="en-US" sz="2000">
                <a:ea typeface="+mn-lt"/>
                <a:cs typeface="+mn-lt"/>
              </a:rPr>
              <a:t> by identifying the detected risk and the reason behind the final decision.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Evaluate guardrail performance</a:t>
            </a:r>
            <a:r>
              <a:rPr lang="en-US" sz="2000">
                <a:ea typeface="+mn-lt"/>
                <a:cs typeface="+mn-lt"/>
              </a:rPr>
              <a:t> using metrics such as detection accuracy, false-positive rate, false-negative rate, and attack success rate.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Provide a modular safety layer</a:t>
            </a:r>
            <a:r>
              <a:rPr lang="en-US" sz="2000">
                <a:ea typeface="+mn-lt"/>
                <a:cs typeface="+mn-lt"/>
              </a:rPr>
              <a:t> that can be integrated with different LLMs and future AI-agent applications.</a:t>
            </a:r>
            <a:endParaRPr lang="en-US"/>
          </a:p>
          <a:p>
            <a:endParaRPr lang="en-IN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005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23448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403158" y="831238"/>
            <a:ext cx="11289303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400">
                <a:solidFill>
                  <a:srgbClr val="FF0000"/>
                </a:solidFill>
                <a:latin typeface="Arial"/>
                <a:cs typeface="Arial"/>
              </a:rPr>
              <a:t>SWOT Analysis</a:t>
            </a:r>
            <a:endParaRPr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</a:endParaRPr>
          </a:p>
          <a:p>
            <a:pPr>
              <a:defRPr/>
            </a:pPr>
            <a:endParaRPr lang="en-US" sz="2400" dirty="0">
              <a:solidFill>
                <a:srgbClr val="FF0000"/>
              </a:solidFill>
              <a:latin typeface="Arial"/>
              <a:ea typeface="+mn-lt"/>
              <a:cs typeface="Arial"/>
            </a:endParaRPr>
          </a:p>
          <a:p>
            <a:pPr>
              <a:defRPr/>
            </a:pPr>
            <a:endParaRPr lang="en-US" dirty="0">
              <a:ea typeface="+mn-lt"/>
              <a:cs typeface="+mn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FC0BE5-F9BD-3487-79FB-3256D440C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773240"/>
              </p:ext>
            </p:extLst>
          </p:nvPr>
        </p:nvGraphicFramePr>
        <p:xfrm>
          <a:off x="438410" y="1388301"/>
          <a:ext cx="11327632" cy="2538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3816">
                  <a:extLst>
                    <a:ext uri="{9D8B030D-6E8A-4147-A177-3AD203B41FA5}">
                      <a16:colId xmlns:a16="http://schemas.microsoft.com/office/drawing/2014/main" val="3157586250"/>
                    </a:ext>
                  </a:extLst>
                </a:gridCol>
                <a:gridCol w="5663816">
                  <a:extLst>
                    <a:ext uri="{9D8B030D-6E8A-4147-A177-3AD203B41FA5}">
                      <a16:colId xmlns:a16="http://schemas.microsoft.com/office/drawing/2014/main" val="1093681896"/>
                    </a:ext>
                  </a:extLst>
                </a:gridCol>
              </a:tblGrid>
              <a:tr h="29200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Strength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Weakness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67680"/>
                  </a:ext>
                </a:extLst>
              </a:tr>
              <a:tr h="51100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Multi-agent approach improves safety evaluation.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Multiple agents increase computational cost.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433510"/>
                  </a:ext>
                </a:extLst>
              </a:tr>
              <a:tr h="51100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Detects multiple risks such as jailbreaks and prompt injection.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Performance depends on the quality of guardrail models.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384281"/>
                  </a:ext>
                </a:extLst>
              </a:tr>
              <a:tr h="51100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Arbiter Agent provides a final consensus-based decision.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May introduce additional response latency.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804912"/>
                  </a:ext>
                </a:extLst>
              </a:tr>
              <a:tr h="51100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Can provide explainable risk decisions.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Requires careful policy and threshold configuration.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58702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DE27F3-E430-656D-2DE4-53D7F59CA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029640"/>
              </p:ext>
            </p:extLst>
          </p:nvPr>
        </p:nvGraphicFramePr>
        <p:xfrm>
          <a:off x="407095" y="3924821"/>
          <a:ext cx="11379862" cy="265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931">
                  <a:extLst>
                    <a:ext uri="{9D8B030D-6E8A-4147-A177-3AD203B41FA5}">
                      <a16:colId xmlns:a16="http://schemas.microsoft.com/office/drawing/2014/main" val="2350129298"/>
                    </a:ext>
                  </a:extLst>
                </a:gridCol>
                <a:gridCol w="5689931">
                  <a:extLst>
                    <a:ext uri="{9D8B030D-6E8A-4147-A177-3AD203B41FA5}">
                      <a16:colId xmlns:a16="http://schemas.microsoft.com/office/drawing/2014/main" val="1144295996"/>
                    </a:ext>
                  </a:extLst>
                </a:gridCol>
              </a:tblGrid>
              <a:tr h="365342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Opportunities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Threats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792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Growing demand for safe and trustworthy GenAI.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New jailbreak techniques can bypass existing guardrails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493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Can be integrated with AI agents, RAG, and enterprise systems.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False positives may block legitimate requests.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43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Can support applications in healthcare, finance, and education.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Attackers can continuously adapt to defense mechanisms.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526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Can be extended with adaptive and learning-based guardrails.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Rapidly changing LLM technology may make defenses outdated.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327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7963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1071154" y="1064470"/>
            <a:ext cx="9901002" cy="25237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24688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375B"/>
                </a:solidFill>
                <a:latin typeface="Arial"/>
              </a:defRPr>
            </a:pPr>
            <a:r>
              <a:t>Methodology – Proposed GuardX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1965960" cy="685800"/>
          </a:xfrm>
          <a:prstGeom prst="roundRect">
            <a:avLst/>
          </a:prstGeom>
          <a:solidFill>
            <a:srgbClr val="EBF2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82828"/>
                </a:solidFill>
                <a:latin typeface="Arial"/>
              </a:defRPr>
            </a:pPr>
            <a:r>
              <a:t>User Prompt /</a:t>
            </a:r>
            <a:br/>
            <a:r>
              <a:t>AI-Agent Request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80" y="1399032"/>
            <a:ext cx="411480" cy="0"/>
          </a:xfrm>
          <a:prstGeom prst="line">
            <a:avLst/>
          </a:prstGeom>
          <a:ln w="25400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80360" y="804672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Arial"/>
              </a:defRPr>
            </a:pPr>
            <a:r>
              <a:t>Security Agent</a:t>
            </a:r>
            <a:br/>
            <a:r>
              <a:t>Jailbreak • Prompt Injection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764792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46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Arial"/>
              </a:defRPr>
            </a:pPr>
            <a:r>
              <a:t>Privacy Agent</a:t>
            </a:r>
            <a:br/>
            <a:r>
              <a:t>PII • Sensitive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724912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AA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Arial"/>
              </a:defRPr>
            </a:pPr>
            <a:r>
              <a:t>Content Agent</a:t>
            </a:r>
            <a:br/>
            <a:r>
              <a:t>Toxicity • Harmfulness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3685032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BE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Arial"/>
              </a:defRPr>
            </a:pPr>
            <a:r>
              <a:t>Policy Agent</a:t>
            </a:r>
            <a:br/>
            <a:r>
              <a:t>Policy • Compliance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0" y="1179576"/>
            <a:ext cx="548640" cy="0"/>
          </a:xfrm>
          <a:prstGeom prst="line">
            <a:avLst/>
          </a:prstGeom>
          <a:ln w="25400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937760" y="2139696"/>
            <a:ext cx="548640" cy="0"/>
          </a:xfrm>
          <a:prstGeom prst="line">
            <a:avLst/>
          </a:prstGeom>
          <a:ln w="25400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3099816"/>
            <a:ext cx="548640" cy="0"/>
          </a:xfrm>
          <a:prstGeom prst="line">
            <a:avLst/>
          </a:prstGeom>
          <a:ln w="25400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4059936"/>
            <a:ext cx="548640" cy="0"/>
          </a:xfrm>
          <a:prstGeom prst="line">
            <a:avLst/>
          </a:prstGeom>
          <a:ln w="25400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86400" y="1600200"/>
            <a:ext cx="1874519" cy="1051560"/>
          </a:xfrm>
          <a:prstGeom prst="roundRect">
            <a:avLst/>
          </a:prstGeom>
          <a:solidFill>
            <a:srgbClr val="CFDDEC"/>
          </a:solidFill>
          <a:ln>
            <a:solidFill>
              <a:srgbClr val="1B3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82828"/>
                </a:solidFill>
                <a:latin typeface="Arial"/>
              </a:defRPr>
            </a:pPr>
            <a:r>
              <a:t>Risk Scoring</a:t>
            </a:r>
            <a:br/>
            <a:r>
              <a:t>&amp; Ensemble</a:t>
            </a:r>
            <a:br/>
            <a:r>
              <a:t>Decision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60920" y="2121408"/>
            <a:ext cx="457200" cy="0"/>
          </a:xfrm>
          <a:prstGeom prst="line">
            <a:avLst/>
          </a:prstGeom>
          <a:ln w="25400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18120" y="1600200"/>
            <a:ext cx="1691640" cy="1051560"/>
          </a:xfrm>
          <a:prstGeom prst="roundRect">
            <a:avLst/>
          </a:prstGeom>
          <a:solidFill>
            <a:srgbClr val="EBF2F9"/>
          </a:solidFill>
          <a:ln>
            <a:solidFill>
              <a:srgbClr val="1B3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82828"/>
                </a:solidFill>
                <a:latin typeface="Arial"/>
              </a:defRPr>
            </a:pPr>
            <a:r>
              <a:t>Arbiter Agent</a:t>
            </a:r>
            <a:br/>
            <a:r>
              <a:t>Consensus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509760" y="2121408"/>
            <a:ext cx="411480" cy="0"/>
          </a:xfrm>
          <a:prstGeom prst="line">
            <a:avLst/>
          </a:prstGeom>
          <a:ln w="25400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921240" y="1005840"/>
            <a:ext cx="1600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46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Arial"/>
              </a:defRPr>
            </a:pPr>
            <a:r>
              <a:t>ALLOW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1737360"/>
            <a:ext cx="1600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E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Arial"/>
              </a:defRPr>
            </a:pPr>
            <a:r>
              <a:t>MODIFY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2468880"/>
            <a:ext cx="1600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AA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Arial"/>
              </a:defRPr>
            </a:pPr>
            <a:r>
              <a:t>BLOCK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3200400"/>
            <a:ext cx="1600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B3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82828"/>
                </a:solidFill>
                <a:latin typeface="Arial"/>
              </a:defRPr>
            </a:pPr>
            <a:r>
              <a:t>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92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75B"/>
                </a:solidFill>
                <a:latin typeface="Arial"/>
              </a:defRPr>
            </a:pPr>
            <a:r>
              <a:t>Feedback &amp; Audit Loop: store risk category, score, agent decisions, final action, and evaluation outcome for threshold tuning and future improvement.</a:t>
            </a:r>
          </a:p>
        </p:txBody>
      </p:sp>
    </p:spTree>
    <p:extLst>
      <p:ext uri="{BB962C8B-B14F-4D97-AF65-F5344CB8AC3E}">
        <p14:creationId xmlns:p14="http://schemas.microsoft.com/office/powerpoint/2010/main" val="579667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24688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375B"/>
                </a:solidFill>
                <a:latin typeface="Arial"/>
              </a:defRPr>
            </a:pPr>
            <a:r>
              <a:t>Evaluation Plan, Expected Outcomes &amp;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B375B"/>
                </a:solidFill>
                <a:latin typeface="Arial"/>
              </a:defRPr>
            </a:pPr>
            <a:r>
              <a:t>Evaluation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2880360" cy="502920"/>
          </a:xfrm>
          <a:prstGeom prst="roundRect">
            <a:avLst/>
          </a:prstGeom>
          <a:solidFill>
            <a:srgbClr val="EBF2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82828"/>
                </a:solidFill>
                <a:latin typeface="Arial"/>
              </a:defRPr>
            </a:pPr>
            <a:r>
              <a:t>Detection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20440" y="13441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  <a:latin typeface="Arial"/>
              </a:defRPr>
            </a:pPr>
            <a:r>
              <a:t>Correct identification of unsafe vs. safe prompts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29967"/>
            <a:ext cx="2880360" cy="502920"/>
          </a:xfrm>
          <a:prstGeom prst="roundRect">
            <a:avLst/>
          </a:prstGeom>
          <a:solidFill>
            <a:srgbClr val="EBF2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82828"/>
                </a:solidFill>
                <a:latin typeface="Arial"/>
              </a:defRPr>
            </a:pPr>
            <a:r>
              <a:t>False Positive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200253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  <a:latin typeface="Arial"/>
              </a:defRPr>
            </a:pPr>
            <a:r>
              <a:t>Legitimate requests incorrectly blocked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88336"/>
            <a:ext cx="2880360" cy="502920"/>
          </a:xfrm>
          <a:prstGeom prst="roundRect">
            <a:avLst/>
          </a:prstGeom>
          <a:solidFill>
            <a:srgbClr val="EBF2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82828"/>
                </a:solidFill>
                <a:latin typeface="Arial"/>
              </a:defRPr>
            </a:pPr>
            <a:r>
              <a:t>False Negative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66090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  <a:latin typeface="Arial"/>
              </a:defRPr>
            </a:pPr>
            <a:r>
              <a:t>Unsafe requests incorrectly allowed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46704"/>
            <a:ext cx="2880360" cy="502920"/>
          </a:xfrm>
          <a:prstGeom prst="roundRect">
            <a:avLst/>
          </a:prstGeom>
          <a:solidFill>
            <a:srgbClr val="EBF2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82828"/>
                </a:solidFill>
                <a:latin typeface="Arial"/>
              </a:defRPr>
            </a:pPr>
            <a:r>
              <a:t>Attack Success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31927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  <a:latin typeface="Arial"/>
              </a:defRPr>
            </a:pPr>
            <a:r>
              <a:t>Adversarial prompts that bypass GuardX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005072"/>
            <a:ext cx="2880360" cy="502920"/>
          </a:xfrm>
          <a:prstGeom prst="roundRect">
            <a:avLst/>
          </a:prstGeom>
          <a:solidFill>
            <a:srgbClr val="EBF2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82828"/>
                </a:solidFill>
                <a:latin typeface="Arial"/>
              </a:defRPr>
            </a:pPr>
            <a:r>
              <a:t>Decision 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9776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  <a:latin typeface="Arial"/>
              </a:defRPr>
            </a:pPr>
            <a:r>
              <a:t>Agreement across guardrail agents and Arbiter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9601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B375B"/>
                </a:solidFill>
                <a:latin typeface="Arial"/>
              </a:defRPr>
            </a:pPr>
            <a:r>
              <a:t>Expected Outcomes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371600"/>
            <a:ext cx="5074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46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Arial"/>
              </a:defRPr>
            </a:pPr>
            <a:r>
              <a:t>More robust detection than a single guardrail.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029967"/>
            <a:ext cx="5074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46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Arial"/>
              </a:defRPr>
            </a:pPr>
            <a:r>
              <a:t>Explainable risk scores and final decisions.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688336"/>
            <a:ext cx="5074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46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Arial"/>
              </a:defRPr>
            </a:pPr>
            <a:r>
              <a:t>Modular framework usable with different LLMs.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346704"/>
            <a:ext cx="5074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46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Arial"/>
              </a:defRPr>
            </a:pPr>
            <a:r>
              <a:t>Safer validation of AI-agent tool calls/actions.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46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B375B"/>
                </a:solidFill>
                <a:latin typeface="Arial"/>
              </a:defRPr>
            </a:pPr>
            <a:r>
              <a:t>Project Timeline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303520"/>
            <a:ext cx="1965960" cy="438912"/>
          </a:xfrm>
          <a:prstGeom prst="roundRect">
            <a:avLst/>
          </a:prstGeom>
          <a:solidFill>
            <a:srgbClr val="1B375B"/>
          </a:solidFill>
          <a:ln>
            <a:solidFill>
              <a:srgbClr val="1B3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Phase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78815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  <a:latin typeface="Arial"/>
              </a:defRPr>
            </a:pPr>
            <a:r>
              <a:t>Literature review &amp; requirements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5303520"/>
            <a:ext cx="1965960" cy="438912"/>
          </a:xfrm>
          <a:prstGeom prst="roundRect">
            <a:avLst/>
          </a:prstGeom>
          <a:solidFill>
            <a:srgbClr val="1B375B"/>
          </a:solidFill>
          <a:ln>
            <a:solidFill>
              <a:srgbClr val="1B3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78815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  <a:latin typeface="Arial"/>
              </a:defRPr>
            </a:pPr>
            <a:r>
              <a:t>Guardrail agent design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5303520"/>
            <a:ext cx="1965960" cy="438912"/>
          </a:xfrm>
          <a:prstGeom prst="roundRect">
            <a:avLst/>
          </a:prstGeom>
          <a:solidFill>
            <a:srgbClr val="1B375B"/>
          </a:solidFill>
          <a:ln>
            <a:solidFill>
              <a:srgbClr val="1B3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578815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  <a:latin typeface="Arial"/>
              </a:defRPr>
            </a:pPr>
            <a:r>
              <a:t>Arbiter + risk scoring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5303520"/>
            <a:ext cx="1965960" cy="438912"/>
          </a:xfrm>
          <a:prstGeom prst="roundRect">
            <a:avLst/>
          </a:prstGeom>
          <a:solidFill>
            <a:srgbClr val="1B375B"/>
          </a:solidFill>
          <a:ln>
            <a:solidFill>
              <a:srgbClr val="1B3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78815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  <a:latin typeface="Arial"/>
              </a:defRPr>
            </a:pPr>
            <a:r>
              <a:t>Dataset testing &amp; evaluation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5303520"/>
            <a:ext cx="1965960" cy="438912"/>
          </a:xfrm>
          <a:prstGeom prst="roundRect">
            <a:avLst/>
          </a:prstGeom>
          <a:solidFill>
            <a:srgbClr val="1B375B"/>
          </a:solidFill>
          <a:ln>
            <a:solidFill>
              <a:srgbClr val="1B3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Phase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578815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  <a:latin typeface="Arial"/>
              </a:defRPr>
            </a:pPr>
            <a:r>
              <a:t>Integration, documentation &amp; demo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1002243" y="1723624"/>
            <a:ext cx="9901002" cy="41242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24688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375B"/>
                </a:solidFill>
                <a:latin typeface="Arial"/>
              </a:defRPr>
            </a:pPr>
            <a:r>
              <a:t>Methodology – Implementation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019" y="1206075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75B"/>
                </a:solidFill>
                <a:latin typeface="Arial"/>
              </a:defRPr>
            </a:pPr>
            <a:r>
              <a:rPr dirty="0"/>
              <a:t>1. Dataset 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7053" y="1190390"/>
            <a:ext cx="8001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82828"/>
                </a:solidFill>
                <a:latin typeface="Arial"/>
              </a:defRPr>
            </a:pPr>
            <a:r>
              <a:rPr dirty="0"/>
              <a:t>Load </a:t>
            </a:r>
            <a:r>
              <a:rPr dirty="0" err="1"/>
              <a:t>AdvBench</a:t>
            </a:r>
            <a:r>
              <a:rPr dirty="0"/>
              <a:t> harmful/adversarial prompts and define expected safety labels.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19" y="2004926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75B"/>
                </a:solidFill>
                <a:latin typeface="Arial"/>
              </a:defRPr>
            </a:pPr>
            <a:r>
              <a:rPr dirty="0"/>
              <a:t>2. Input Screening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7053" y="1943100"/>
            <a:ext cx="8001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82828"/>
                </a:solidFill>
                <a:latin typeface="Arial"/>
              </a:defRPr>
            </a:pPr>
            <a:r>
              <a:rPr dirty="0"/>
              <a:t>Run rule-based checks for obvious unsafe patterns, prompt injection and PII.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19" y="285065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75B"/>
                </a:solidFill>
                <a:latin typeface="Arial"/>
              </a:defRPr>
            </a:pPr>
            <a:r>
              <a:rPr dirty="0"/>
              <a:t>3. Multi-Agent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7053" y="2865975"/>
            <a:ext cx="8001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82828"/>
                </a:solidFill>
                <a:latin typeface="Arial"/>
              </a:defRPr>
            </a:pPr>
            <a:r>
              <a:rPr dirty="0"/>
              <a:t>Send each prompt/response to specialized guardrail agents independently.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019" y="3654801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75B"/>
                </a:solidFill>
                <a:latin typeface="Arial"/>
              </a:defRPr>
            </a:pPr>
            <a:r>
              <a:rPr dirty="0"/>
              <a:t>4. Risk Aggregation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7053" y="3636347"/>
            <a:ext cx="8001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82828"/>
                </a:solidFill>
                <a:latin typeface="Arial"/>
              </a:defRPr>
            </a:pPr>
            <a:r>
              <a:rPr dirty="0"/>
              <a:t>Convert agent outputs into risk categories and normalized risk scores.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019" y="442439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75B"/>
                </a:solidFill>
                <a:latin typeface="Arial"/>
              </a:defRPr>
            </a:pPr>
            <a:r>
              <a:t>5. Arbiter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7053" y="4306135"/>
            <a:ext cx="8001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82828"/>
                </a:solidFill>
                <a:latin typeface="Arial"/>
              </a:defRPr>
            </a:pPr>
            <a:r>
              <a:rPr dirty="0"/>
              <a:t>Apply weighted/consensus logic to choose ALLOW, MODIFY, BLOCK or HUMAN REVIEW.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019" y="5193979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75B"/>
                </a:solidFill>
                <a:latin typeface="Arial"/>
              </a:defRPr>
            </a:pPr>
            <a:r>
              <a:rPr dirty="0"/>
              <a:t>6. Evaluation &amp;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7053" y="5177744"/>
            <a:ext cx="8001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82828"/>
                </a:solidFill>
                <a:latin typeface="Arial"/>
              </a:defRPr>
            </a:pPr>
            <a:r>
              <a:rPr dirty="0"/>
              <a:t>Measure accuracy, FPR, FNR and attack success; tune rules, weights and thresholds.</a:t>
            </a:r>
          </a:p>
        </p:txBody>
      </p:sp>
    </p:spTree>
    <p:extLst>
      <p:ext uri="{BB962C8B-B14F-4D97-AF65-F5344CB8AC3E}">
        <p14:creationId xmlns:p14="http://schemas.microsoft.com/office/powerpoint/2010/main" val="1359081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24688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375B"/>
                </a:solidFill>
                <a:latin typeface="Arial"/>
              </a:defRPr>
            </a:pPr>
            <a:r>
              <a:t>Conclusion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51560"/>
            <a:ext cx="5303520" cy="960120"/>
          </a:xfrm>
          <a:prstGeom prst="roundRect">
            <a:avLst/>
          </a:prstGeom>
          <a:solidFill>
            <a:srgbClr val="EBF2F9"/>
          </a:solidFill>
          <a:ln>
            <a:solidFill>
              <a:srgbClr val="1B3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828"/>
                </a:solidFill>
                <a:latin typeface="Arial"/>
              </a:defRPr>
            </a:pPr>
            <a:r>
              <a:t>GuardX provides a modular multi-agent safety layer that combines specialized risk checks with an Arbiter Agent for final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3172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B375B"/>
                </a:solidFill>
                <a:latin typeface="Arial"/>
              </a:defRPr>
            </a:pPr>
            <a:r>
              <a:t>Key Contributions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88920"/>
            <a:ext cx="5029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Arial"/>
              </a:defRPr>
            </a:pPr>
            <a:r>
              <a:t>Independent evaluation of multiple safety dimensions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83279"/>
            <a:ext cx="5029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Arial"/>
              </a:defRPr>
            </a:pPr>
            <a:r>
              <a:t>Risk scoring + consensus-based arbitration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977639"/>
            <a:ext cx="5029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Arial"/>
              </a:defRPr>
            </a:pPr>
            <a:r>
              <a:t>Explainable ALLOW / MODIFY / BLOCK / HUMAN REVIEW outcomes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572000"/>
            <a:ext cx="5029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Arial"/>
              </a:defRPr>
            </a:pPr>
            <a:r>
              <a:t>Benchmark-driven evaluation using adversarial prompts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B375B"/>
                </a:solidFill>
                <a:latin typeface="Arial"/>
              </a:defRPr>
            </a:pPr>
            <a:r>
              <a:t>Future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788920"/>
            <a:ext cx="5029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46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Arial"/>
              </a:defRPr>
            </a:pPr>
            <a:r>
              <a:t>Adaptive guardrails that learn from audit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383279"/>
            <a:ext cx="5029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46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Arial"/>
              </a:defRPr>
            </a:pPr>
            <a:r>
              <a:t>Integration with RAG, enterprise tools and agent frameworks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977639"/>
            <a:ext cx="5029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46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Arial"/>
              </a:defRPr>
            </a:pPr>
            <a:r>
              <a:t>More benchmarks: HarmBench, JailbreakBench, AgentDojo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572000"/>
            <a:ext cx="5029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46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Arial"/>
              </a:defRPr>
            </a:pPr>
            <a:r>
              <a:t>Human-in-the-loop escalation and policy customization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24688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375B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6510" y="973556"/>
            <a:ext cx="106984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endParaRPr lang="en-US" dirty="0"/>
          </a:p>
          <a:p>
            <a:pPr fontAlgn="base"/>
            <a:r>
              <a:rPr lang="en-US" dirty="0"/>
              <a:t>[1] A. Zou et al., “Universal and transferable adversarial attacks on aligned </a:t>
            </a:r>
            <a:r>
              <a:rPr lang="en-US" dirty="0" err="1"/>
              <a:t>languagemodels</a:t>
            </a:r>
            <a:r>
              <a:rPr lang="en-US" dirty="0"/>
              <a:t>,” </a:t>
            </a:r>
            <a:r>
              <a:rPr lang="en-US" dirty="0" err="1"/>
              <a:t>arXiv</a:t>
            </a:r>
            <a:r>
              <a:rPr lang="en-US" dirty="0"/>
              <a:t> preprint arXiv:2307.15043, 2023.​</a:t>
            </a:r>
          </a:p>
          <a:p>
            <a:pPr fontAlgn="base"/>
            <a:r>
              <a:rPr lang="en-US" dirty="0"/>
              <a:t>[2] M. Mazeika et al., “</a:t>
            </a:r>
            <a:r>
              <a:rPr lang="en-US" dirty="0" err="1"/>
              <a:t>HarmBench</a:t>
            </a:r>
            <a:r>
              <a:rPr lang="en-US" dirty="0"/>
              <a:t>: A standardized evaluation framework </a:t>
            </a:r>
            <a:r>
              <a:rPr lang="en-US" dirty="0" err="1"/>
              <a:t>forautomated</a:t>
            </a:r>
            <a:r>
              <a:rPr lang="en-US" dirty="0"/>
              <a:t> red teaming and robust refusal,” </a:t>
            </a:r>
            <a:r>
              <a:rPr lang="en-US" dirty="0" err="1"/>
              <a:t>arXiv</a:t>
            </a:r>
            <a:r>
              <a:rPr lang="en-US" dirty="0"/>
              <a:t> preprint arXiv:2402.04249, 2024.​</a:t>
            </a:r>
          </a:p>
          <a:p>
            <a:pPr fontAlgn="base"/>
            <a:r>
              <a:rPr lang="en-US" dirty="0"/>
              <a:t>[3] P. Chao et al., “</a:t>
            </a:r>
            <a:r>
              <a:rPr lang="en-US" dirty="0" err="1"/>
              <a:t>JailbreakBench</a:t>
            </a:r>
            <a:r>
              <a:rPr lang="en-US" dirty="0"/>
              <a:t>: An open robustness benchmark for </a:t>
            </a:r>
            <a:r>
              <a:rPr lang="en-US" dirty="0" err="1"/>
              <a:t>jailbreakinglarge</a:t>
            </a:r>
            <a:r>
              <a:rPr lang="en-US" dirty="0"/>
              <a:t> language models,” </a:t>
            </a:r>
            <a:r>
              <a:rPr lang="en-US" dirty="0" err="1"/>
              <a:t>arXiv</a:t>
            </a:r>
            <a:r>
              <a:rPr lang="en-US" dirty="0"/>
              <a:t> preprint arXiv:2404.01318, 2024.​</a:t>
            </a:r>
          </a:p>
          <a:p>
            <a:pPr fontAlgn="base"/>
            <a:r>
              <a:rPr lang="en-US" dirty="0"/>
              <a:t>[4] M. Debenedetti et al., “</a:t>
            </a:r>
            <a:r>
              <a:rPr lang="en-US" dirty="0" err="1"/>
              <a:t>AgentDojo</a:t>
            </a:r>
            <a:r>
              <a:rPr lang="en-US" dirty="0"/>
              <a:t>: A dynamic environment to evaluate </a:t>
            </a:r>
            <a:r>
              <a:rPr lang="en-US" dirty="0" err="1"/>
              <a:t>promptinjection</a:t>
            </a:r>
            <a:r>
              <a:rPr lang="en-US" dirty="0"/>
              <a:t> attacks and defenses for LLM agents,” Advances in Neural </a:t>
            </a:r>
            <a:r>
              <a:rPr lang="en-US" dirty="0" err="1"/>
              <a:t>InformationProcessing</a:t>
            </a:r>
            <a:r>
              <a:rPr lang="en-US" dirty="0"/>
              <a:t> Systems (</a:t>
            </a:r>
            <a:r>
              <a:rPr lang="en-US" dirty="0" err="1"/>
              <a:t>NeurIPS</a:t>
            </a:r>
            <a:r>
              <a:rPr lang="en-US" dirty="0"/>
              <a:t>), 2024.​</a:t>
            </a:r>
          </a:p>
          <a:p>
            <a:pPr fontAlgn="base"/>
            <a:r>
              <a:rPr lang="en-US" dirty="0"/>
              <a:t>[5] “Prompt attack detection with LLM-as-a-judge and mixture-of-models,” </a:t>
            </a:r>
            <a:r>
              <a:rPr lang="en-US" dirty="0" err="1"/>
              <a:t>arXivpreprint</a:t>
            </a:r>
            <a:r>
              <a:rPr lang="en-US" dirty="0"/>
              <a:t>, 2026.​</a:t>
            </a:r>
          </a:p>
          <a:p>
            <a:pPr fontAlgn="base"/>
            <a:r>
              <a:rPr lang="en-IN" dirty="0"/>
              <a:t>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82EA-6098-704F-AD4D-D13A499C492D}"/>
              </a:ext>
            </a:extLst>
          </p:cNvPr>
          <p:cNvSpPr txBox="1"/>
          <p:nvPr/>
        </p:nvSpPr>
        <p:spPr>
          <a:xfrm>
            <a:off x="1895294" y="3601496"/>
            <a:ext cx="8401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7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FBB1AB-6227-0A49-9677-D759BB97E908}"/>
              </a:ext>
            </a:extLst>
          </p:cNvPr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3B91EF5-66BF-4A12-80C1-98869846E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880" y="1709987"/>
            <a:ext cx="4206240" cy="180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48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12298</TotalTime>
  <Words>1483</Words>
  <Application>Microsoft Office PowerPoint</Application>
  <PresentationFormat>Widescreen</PresentationFormat>
  <Paragraphs>153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Stuti Gandhi</dc:creator>
  <cp:lastModifiedBy>Deepti Gupta</cp:lastModifiedBy>
  <cp:revision>859</cp:revision>
  <dcterms:created xsi:type="dcterms:W3CDTF">2021-05-06T09:42:21Z</dcterms:created>
  <dcterms:modified xsi:type="dcterms:W3CDTF">2026-08-20T17:52:27Z</dcterms:modified>
</cp:coreProperties>
</file>